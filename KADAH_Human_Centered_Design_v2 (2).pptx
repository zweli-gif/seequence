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501997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FFFF">
              <a:alpha val="10000"/>
            </a:srgbClr>
          </a:solidFill>
          <a:ln w="28575">
            <a:solidFill>
              <a:srgbClr val="D974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29288" y="1644997"/>
            <a:ext cx="26854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KA-DAH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505117" y="2521297"/>
            <a:ext cx="21337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900"/>
              </a:spcBef>
              <a:spcAft>
                <a:spcPts val="2400"/>
              </a:spcAft>
              <a:buNone/>
            </a:pPr>
            <a:r>
              <a:rPr lang="en-US" sz="1500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INVISIBLE APP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91000" y="3245197"/>
            <a:ext cx="762000" cy="28575"/>
          </a:xfrm>
          <a:prstGeom prst="rect">
            <a:avLst/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82026" y="3730972"/>
            <a:ext cx="457994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Human-Centered Design Document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185114" y="4332833"/>
            <a:ext cx="277362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Decisions, Rationale &amp; Evidence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145977"/>
            <a:ext cx="7966710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95"/>
              </a:lnSpc>
              <a:spcAft>
                <a:spcPts val="1200"/>
              </a:spcAft>
              <a:buNone/>
            </a:pPr>
            <a:r>
              <a:rPr lang="en-US" sz="3150" i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 the absence of interface.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62000" y="1970782"/>
            <a:ext cx="7966710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95"/>
              </a:lnSpc>
              <a:spcAft>
                <a:spcPts val="3000"/>
              </a:spcAft>
              <a:buNone/>
            </a:pPr>
            <a:r>
              <a:rPr lang="en-US" sz="3150" i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presence of independence."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762000" y="3024188"/>
            <a:ext cx="571500" cy="28575"/>
          </a:xfrm>
          <a:prstGeom prst="rect">
            <a:avLst/>
          </a:prstGeom>
          <a:solidFill>
            <a:srgbClr val="C4A7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509963"/>
            <a:ext cx="68008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KA-DAH is not an app that compensates for visual deficiency. It elevates auditory and tactile strengths — working the way visually impaired users naturally interact with the world.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58390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Documentation for Non-Visual Apps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477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UX artifacts require fundamental adaptation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1541413"/>
            <a:ext cx="2435721" cy="3009156"/>
          </a:xfrm>
          <a:prstGeom prst="roundRect">
            <a:avLst>
              <a:gd name="adj" fmla="val 3128"/>
            </a:avLst>
          </a:prstGeom>
          <a:solidFill>
            <a:srgbClr val="F5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693813"/>
            <a:ext cx="21735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UX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150" y="2120503"/>
            <a:ext cx="21735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38150" y="2541389"/>
            <a:ext cx="21735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Mockups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38150" y="2962275"/>
            <a:ext cx="21735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Component Library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3383161"/>
            <a:ext cx="21735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 Diagrams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38150" y="3804047"/>
            <a:ext cx="21735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Guide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38150" y="4224933"/>
            <a:ext cx="21735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Clickable Prototype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939219" y="2859435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C4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429149" y="1541413"/>
            <a:ext cx="2838599" cy="3009156"/>
          </a:xfrm>
          <a:prstGeom prst="roundRect">
            <a:avLst>
              <a:gd name="adj" fmla="val 2684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81549" y="1693813"/>
            <a:ext cx="25844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KA-DAH EQUIVALENT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81549" y="2120503"/>
            <a:ext cx="25844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Diagrams + Audio Scripts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581549" y="2541389"/>
            <a:ext cx="25844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 Pattern Library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581549" y="2962275"/>
            <a:ext cx="25844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Interaction Model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581549" y="3383161"/>
            <a:ext cx="25844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 Documentation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581549" y="3804047"/>
            <a:ext cx="25844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Tone + Audio System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581549" y="4224933"/>
            <a:ext cx="25844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Audio-Haptic Prototype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420148" y="1581150"/>
            <a:ext cx="2437954" cy="2929682"/>
          </a:xfrm>
          <a:prstGeom prst="rect">
            <a:avLst/>
          </a:prstGeom>
          <a:solidFill>
            <a:srgbClr val="FD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439198" y="1581150"/>
            <a:ext cx="0" cy="2929682"/>
          </a:xfrm>
          <a:prstGeom prst="line">
            <a:avLst/>
          </a:prstGeom>
          <a:noFill/>
          <a:ln w="38100">
            <a:solidFill>
              <a:srgbClr val="D974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0648" y="1733550"/>
            <a:ext cx="2136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DIFFERENT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10648" y="2160240"/>
            <a:ext cx="2136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visual layout to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10648" y="2567880"/>
            <a:ext cx="2136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feedback replaces visuals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10648" y="2975521"/>
            <a:ext cx="2136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Gestures are the UI components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10648" y="3383161"/>
            <a:ext cx="2136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but audio-centric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10648" y="3790801"/>
            <a:ext cx="2136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is the primary medium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10648" y="4198441"/>
            <a:ext cx="2136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simulate haptics + audio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564035"/>
            <a:ext cx="38884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71500" y="1979265"/>
            <a:ext cx="3274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Research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71500" y="2741265"/>
            <a:ext cx="571500" cy="38100"/>
          </a:xfrm>
          <a:prstGeom prst="rect">
            <a:avLst/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3122265"/>
            <a:ext cx="38884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lived experience of blind and visually impaired smartphone users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54242" y="2000250"/>
            <a:ext cx="1143000" cy="1143000"/>
          </a:xfrm>
          <a:prstGeom prst="roundRect">
            <a:avLst>
              <a:gd name="adj" fmla="val 80000"/>
            </a:avLst>
          </a:prstGeom>
          <a:noFill/>
          <a:ln w="2857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Space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477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Barriers VI users face go beyond individual app accessibility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1609874"/>
            <a:ext cx="4610100" cy="639961"/>
          </a:xfrm>
          <a:prstGeom prst="rect">
            <a:avLst/>
          </a:prstGeom>
          <a:solidFill>
            <a:srgbClr val="FD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609874"/>
            <a:ext cx="0" cy="639961"/>
          </a:xfrm>
          <a:prstGeom prst="line">
            <a:avLst/>
          </a:prstGeom>
          <a:noFill/>
          <a:ln w="38100">
            <a:solidFill>
              <a:srgbClr val="D974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6250" y="1743224"/>
            <a:ext cx="435254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Movement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App icons move when apps update or are installed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5750" y="2364135"/>
            <a:ext cx="4610100" cy="453330"/>
          </a:xfrm>
          <a:prstGeom prst="rect">
            <a:avLst/>
          </a:prstGeom>
          <a:solidFill>
            <a:srgbClr val="FD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2364135"/>
            <a:ext cx="0" cy="453330"/>
          </a:xfrm>
          <a:prstGeom prst="line">
            <a:avLst/>
          </a:prstGeom>
          <a:noFill/>
          <a:ln w="38100">
            <a:solidFill>
              <a:srgbClr val="D974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50" y="2497485"/>
            <a:ext cx="42863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Overload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Screen readers verbalize everything constantly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5750" y="2931765"/>
            <a:ext cx="4610100" cy="453330"/>
          </a:xfrm>
          <a:prstGeom prst="rect">
            <a:avLst/>
          </a:prstGeom>
          <a:solidFill>
            <a:srgbClr val="FD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04800" y="2931765"/>
            <a:ext cx="0" cy="453330"/>
          </a:xfrm>
          <a:prstGeom prst="line">
            <a:avLst/>
          </a:prstGeom>
          <a:noFill/>
          <a:ln w="38100">
            <a:solidFill>
              <a:srgbClr val="D974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250" y="3065115"/>
            <a:ext cx="41435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Exposure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Voice-heavy apps expose private info in public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5750" y="3499396"/>
            <a:ext cx="4610100" cy="453330"/>
          </a:xfrm>
          <a:prstGeom prst="rect">
            <a:avLst/>
          </a:prstGeom>
          <a:solidFill>
            <a:srgbClr val="FD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04800" y="3499396"/>
            <a:ext cx="0" cy="453330"/>
          </a:xfrm>
          <a:prstGeom prst="line">
            <a:avLst/>
          </a:prstGeom>
          <a:noFill/>
          <a:ln w="38100">
            <a:solidFill>
              <a:srgbClr val="D974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250" y="3632746"/>
            <a:ext cx="40950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Patterns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Each app has different interaction models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5750" y="4067026"/>
            <a:ext cx="4610100" cy="453330"/>
          </a:xfrm>
          <a:prstGeom prst="rect">
            <a:avLst/>
          </a:prstGeom>
          <a:solidFill>
            <a:srgbClr val="FD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04800" y="4067026"/>
            <a:ext cx="0" cy="453330"/>
          </a:xfrm>
          <a:prstGeom prst="line">
            <a:avLst/>
          </a:prstGeom>
          <a:noFill/>
          <a:ln w="38100">
            <a:solidFill>
              <a:srgbClr val="D974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250" y="4200376"/>
            <a:ext cx="36112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Difficult to recover without visual context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86350" y="1683097"/>
            <a:ext cx="3771900" cy="2763887"/>
          </a:xfrm>
          <a:prstGeom prst="roundRect">
            <a:avLst>
              <a:gd name="adj" fmla="val 4135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14950" y="1911697"/>
            <a:ext cx="33809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INSIGHT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314950" y="2172593"/>
            <a:ext cx="338099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314950" y="2888754"/>
            <a:ext cx="33809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VI users report frustration with voice-heavy interfaces in public spaces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14950" y="3441204"/>
            <a:ext cx="381000" cy="19050"/>
          </a:xfrm>
          <a:prstGeom prst="rect">
            <a:avLst/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14950" y="3612654"/>
            <a:ext cx="338099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desire for discreet, dignified technology use is a primary unmet need.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14950" y="4085034"/>
            <a:ext cx="33809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200"/>
              </a:spcBef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RNIB Research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59458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Thandi — The Independent Professional</a:t>
            </a:r>
            <a:endParaRPr lang="en-US" sz="2400" dirty="0"/>
          </a:p>
        </p:txBody>
      </p:sp>
      <p:pic>
        <p:nvPicPr>
          <p:cNvPr id="4" name="Image 0" descr="/tmp/rasterized-gradient-79288ff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1322487"/>
            <a:ext cx="2667000" cy="33443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9100" y="1551087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19100" y="2313087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419100" y="2497782"/>
            <a:ext cx="225399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 blind since age 12, social worker in Johannesburg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19100" y="3023443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PROFICIENCY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19100" y="3208139"/>
            <a:ext cx="225399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uses VoiceOver daily, comfortable with gestures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9100" y="3733800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GOALS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19100" y="3918496"/>
            <a:ext cx="2253996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work comms, book Uber, read news — without drawing attention in public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086100" y="1573709"/>
            <a:ext cx="5772150" cy="1348532"/>
          </a:xfrm>
          <a:prstGeom prst="roundRect">
            <a:avLst>
              <a:gd name="adj" fmla="val 5651"/>
            </a:avLst>
          </a:prstGeom>
          <a:solidFill>
            <a:srgbClr val="F5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371850" y="1764209"/>
            <a:ext cx="53046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71850" y="2019449"/>
            <a:ext cx="530466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rearranging after overnight updates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71850" y="2282279"/>
            <a:ext cx="530466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VoiceOver reading private messages aloud on taxi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371850" y="2545110"/>
            <a:ext cx="530466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app working completely differently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086100" y="3074640"/>
            <a:ext cx="5772150" cy="1340941"/>
          </a:xfrm>
          <a:prstGeom prst="rect">
            <a:avLst/>
          </a:prstGeom>
          <a:solidFill>
            <a:srgbClr val="FD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3105150" y="3074640"/>
            <a:ext cx="0" cy="1340941"/>
          </a:xfrm>
          <a:prstGeom prst="line">
            <a:avLst/>
          </a:prstGeom>
          <a:noFill/>
          <a:ln w="38100">
            <a:solidFill>
              <a:srgbClr val="D9745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09950" y="3265140"/>
            <a:ext cx="526580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just want my phone to be predictable. I don't need it to speak to me constantly — I need it to stay still."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 — The New User</a:t>
            </a:r>
            <a:endParaRPr lang="en-US" sz="2400" dirty="0"/>
          </a:p>
        </p:txBody>
      </p:sp>
      <p:pic>
        <p:nvPicPr>
          <p:cNvPr id="4" name="Image 0" descr="/tmp/rasterized-gradient-42b402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1322487"/>
            <a:ext cx="2667000" cy="33443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9100" y="1551087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19100" y="2313087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419100" y="2497782"/>
            <a:ext cx="225399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 recently lost sight due to glaucoma, retired teacher in Pretoria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19100" y="3023443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PROFICIENCY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19100" y="3208139"/>
            <a:ext cx="225399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— used visual smartphone before, struggling with VoiceOver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9100" y="3733800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GOALS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19100" y="3918496"/>
            <a:ext cx="2253996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family, send WhatsApp, listen to news — without relying on grandchildren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086100" y="1573709"/>
            <a:ext cx="5772150" cy="1348532"/>
          </a:xfrm>
          <a:prstGeom prst="roundRect">
            <a:avLst>
              <a:gd name="adj" fmla="val 5651"/>
            </a:avLst>
          </a:prstGeom>
          <a:solidFill>
            <a:srgbClr val="F5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371850" y="1764209"/>
            <a:ext cx="53046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71850" y="2019449"/>
            <a:ext cx="530466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VoiceOver gestures feel unnatural and complex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71850" y="2282279"/>
            <a:ext cx="530466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lost easily with no way to recover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371850" y="2545110"/>
            <a:ext cx="530466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 to ask for help constantly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086100" y="3074640"/>
            <a:ext cx="5772150" cy="1340941"/>
          </a:xfrm>
          <a:prstGeom prst="rect">
            <a:avLst/>
          </a:prstGeom>
          <a:solidFill>
            <a:srgbClr val="FD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3105150" y="3074640"/>
            <a:ext cx="0" cy="1340941"/>
          </a:xfrm>
          <a:prstGeom prst="line">
            <a:avLst/>
          </a:prstGeom>
          <a:noFill/>
          <a:ln w="38100">
            <a:solidFill>
              <a:srgbClr val="D9745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09950" y="3265140"/>
            <a:ext cx="526580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was a teacher for 40 years. Now I can't even read a message without asking someone for help. It's humiliating."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97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609" y="2000250"/>
            <a:ext cx="1143000" cy="1143000"/>
          </a:xfrm>
          <a:prstGeom prst="roundRect">
            <a:avLst>
              <a:gd name="adj" fmla="val 80000"/>
            </a:avLst>
          </a:prstGeom>
          <a:noFill/>
          <a:ln w="2857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0268" y="1335435"/>
            <a:ext cx="38884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60268" y="1750665"/>
            <a:ext cx="22345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760268" y="2969865"/>
            <a:ext cx="571500" cy="38100"/>
          </a:xfrm>
          <a:prstGeom prst="rect">
            <a:avLst/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0268" y="3350865"/>
            <a:ext cx="38884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foundational pillars derived from user research and accessibility frameworks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Pillars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0500" y="1894582"/>
            <a:ext cx="2043113" cy="2002036"/>
          </a:xfrm>
          <a:prstGeom prst="roundRect">
            <a:avLst>
              <a:gd name="adj" fmla="val 5709"/>
            </a:avLst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2085082"/>
            <a:ext cx="1501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76250" y="2486918"/>
            <a:ext cx="150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" y="3020318"/>
            <a:ext cx="150104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reliance on precise touch targets or visual scanning. Every gesture works anywhere on screen.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86013" y="1894582"/>
            <a:ext cx="2043113" cy="2002036"/>
          </a:xfrm>
          <a:prstGeom prst="roundRect">
            <a:avLst>
              <a:gd name="adj" fmla="val 5709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71763" y="2085082"/>
            <a:ext cx="1501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671763" y="2486918"/>
            <a:ext cx="150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71763" y="3020318"/>
            <a:ext cx="150104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Gestures never change meaning. App positions are fixed. Users build reliable muscle memory.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81525" y="1894582"/>
            <a:ext cx="2043113" cy="2002036"/>
          </a:xfrm>
          <a:prstGeom prst="roundRect">
            <a:avLst>
              <a:gd name="adj" fmla="val 5709"/>
            </a:avLst>
          </a:prstGeom>
          <a:solidFill>
            <a:srgbClr val="C4A7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67275" y="2085082"/>
            <a:ext cx="1501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E3A4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67275" y="2486918"/>
            <a:ext cx="150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67275" y="3020318"/>
            <a:ext cx="150104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3A4C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5 gestures. Brief audio cues. Summaries before full content. Minimal cognitive load.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77038" y="1875532"/>
            <a:ext cx="2081212" cy="2040136"/>
          </a:xfrm>
          <a:prstGeom prst="roundRect">
            <a:avLst>
              <a:gd name="adj" fmla="val 5603"/>
            </a:avLst>
          </a:prstGeom>
          <a:solidFill>
            <a:srgbClr val="F5F7F8"/>
          </a:solidFill>
          <a:ln w="19050">
            <a:solidFill>
              <a:srgbClr val="1E3A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81838" y="2085082"/>
            <a:ext cx="1501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7081838" y="2486918"/>
            <a:ext cx="1501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1838" y="3020318"/>
            <a:ext cx="150104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is always optional. Haptics provide primary feedback. Discreet use in public spaces.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678335"/>
            <a:ext cx="38884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71500" y="2093565"/>
            <a:ext cx="38667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71500" y="2855565"/>
            <a:ext cx="571500" cy="38100"/>
          </a:xfrm>
          <a:prstGeom prst="rect">
            <a:avLst/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3236565"/>
            <a:ext cx="3888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gestures. Universal meaning. Anywhere on screen.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54242" y="2000250"/>
            <a:ext cx="1143000" cy="1143000"/>
          </a:xfrm>
          <a:prstGeom prst="roundRect">
            <a:avLst>
              <a:gd name="adj" fmla="val 80000"/>
            </a:avLst>
          </a:prstGeom>
          <a:noFill/>
          <a:ln w="2857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50714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Gestures. Universal Meaning.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533674"/>
            <a:ext cx="1623120" cy="2041922"/>
          </a:xfrm>
          <a:prstGeom prst="roundRect">
            <a:avLst>
              <a:gd name="adj" fmla="val 704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07107" y="1724174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8789" y="2379464"/>
            <a:ext cx="6292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Tap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63327" y="2743200"/>
            <a:ext cx="88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3472" y="3238500"/>
            <a:ext cx="6876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am I?"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023170" y="1533674"/>
            <a:ext cx="1623120" cy="2041922"/>
          </a:xfrm>
          <a:prstGeom prst="roundRect">
            <a:avLst>
              <a:gd name="adj" fmla="val 704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54325" y="1724174"/>
            <a:ext cx="77587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👆👆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02247" y="2379464"/>
            <a:ext cx="6782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Tap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554188" y="2743200"/>
            <a:ext cx="572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71046" y="3238500"/>
            <a:ext cx="5272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"Next item"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760589" y="1533674"/>
            <a:ext cx="1623120" cy="2041922"/>
          </a:xfrm>
          <a:prstGeom prst="roundRect">
            <a:avLst>
              <a:gd name="adj" fmla="val 704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81946" y="1724174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👇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34904" y="2379464"/>
            <a:ext cx="6878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Press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206925" y="2743200"/>
            <a:ext cx="7449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10398" y="3238500"/>
            <a:ext cx="723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"Open / Select"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498009" y="1533674"/>
            <a:ext cx="1623120" cy="2041922"/>
          </a:xfrm>
          <a:prstGeom prst="roundRect">
            <a:avLst>
              <a:gd name="adj" fmla="val 704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19366" y="1724174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📳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30950" y="2379464"/>
            <a:ext cx="7723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Shake (1/2/3)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034385" y="2743200"/>
            <a:ext cx="5613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85428" y="3238500"/>
            <a:ext cx="848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 back / Home"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235428" y="1533674"/>
            <a:ext cx="1623120" cy="2041922"/>
          </a:xfrm>
          <a:prstGeom prst="roundRect">
            <a:avLst>
              <a:gd name="adj" fmla="val 704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856786" y="1724174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✌️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717929" y="2379464"/>
            <a:ext cx="671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Two-Finger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7824639" y="2743200"/>
            <a:ext cx="4535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58520" y="3238500"/>
            <a:ext cx="7769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"Jump category"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90500" y="4537770"/>
            <a:ext cx="8763000" cy="415230"/>
          </a:xfrm>
          <a:prstGeom prst="roundRect">
            <a:avLst>
              <a:gd name="adj" fmla="val 18351"/>
            </a:avLst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97180" y="465207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gestures never change meaning — in any app, any screen, any context.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46479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 Swipe Gestures?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90500" y="1583234"/>
            <a:ext cx="4333875" cy="933301"/>
          </a:xfrm>
          <a:prstGeom prst="roundRect">
            <a:avLst>
              <a:gd name="adj" fmla="val 12247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811834"/>
            <a:ext cx="3954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9100" y="2048024"/>
            <a:ext cx="395420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and Shake Only — No Swipes Required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90500" y="2821335"/>
            <a:ext cx="4333875" cy="1546473"/>
          </a:xfrm>
          <a:prstGeom prst="roundRect">
            <a:avLst>
              <a:gd name="adj" fmla="val 7391"/>
            </a:avLst>
          </a:prstGeom>
          <a:solidFill>
            <a:srgbClr val="F5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3049935"/>
            <a:ext cx="3954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9100" y="3286125"/>
            <a:ext cx="3954209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gestures require directional precision challenging for many VI users, especially those with motor impairments. Taps work anywhere on screen. Shakes use the whole device — impossible to miss.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14875" y="1648123"/>
            <a:ext cx="4143375" cy="1251198"/>
          </a:xfrm>
          <a:prstGeom prst="rect">
            <a:avLst/>
          </a:prstGeom>
          <a:solidFill>
            <a:srgbClr val="FD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33925" y="1648123"/>
            <a:ext cx="0" cy="1251198"/>
          </a:xfrm>
          <a:prstGeom prst="line">
            <a:avLst/>
          </a:prstGeom>
          <a:noFill/>
          <a:ln w="38100">
            <a:solidFill>
              <a:srgbClr val="C4A7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38725" y="1838623"/>
            <a:ext cx="3604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4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 CONSIDERED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38725" y="2074813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Swipe-based like VoiceOver </a:t>
            </a:r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requires precision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038725" y="2305199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Button-based navigation </a:t>
            </a:r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requires locating areas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038725" y="2535585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Voice-only 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privacy concerns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14875" y="3051721"/>
            <a:ext cx="4143375" cy="1251198"/>
          </a:xfrm>
          <a:prstGeom prst="roundRect">
            <a:avLst>
              <a:gd name="adj" fmla="val 6090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00625" y="3242221"/>
            <a:ext cx="36433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00625" y="3478411"/>
            <a:ext cx="3643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2.2 Guideline 2.5.1 on motor accessibility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000625" y="3708797"/>
            <a:ext cx="3643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interviews indicating swipe fatigue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000625" y="3939183"/>
            <a:ext cx="3643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diversity in African markets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Shake to Safety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477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universal escape mechanism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07244" y="1693515"/>
            <a:ext cx="2667000" cy="2667000"/>
          </a:xfrm>
          <a:prstGeom prst="roundRect">
            <a:avLst>
              <a:gd name="adj" fmla="val 34286"/>
            </a:avLst>
          </a:prstGeom>
          <a:noFill/>
          <a:ln w="19050">
            <a:solidFill>
              <a:srgbClr val="E0E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88244" y="2074515"/>
            <a:ext cx="1905000" cy="1905000"/>
          </a:xfrm>
          <a:prstGeom prst="roundRect">
            <a:avLst>
              <a:gd name="adj" fmla="val 48000"/>
            </a:avLst>
          </a:prstGeom>
          <a:noFill/>
          <a:ln w="19050">
            <a:solidFill>
              <a:srgbClr val="C4A77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69244" y="2455515"/>
            <a:ext cx="1143000" cy="1143000"/>
          </a:xfrm>
          <a:prstGeom prst="roundRect">
            <a:avLst>
              <a:gd name="adj" fmla="val 80000"/>
            </a:avLst>
          </a:prstGeom>
          <a:noFill/>
          <a:ln w="28575">
            <a:solidFill>
              <a:srgbClr val="D974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54994" y="2741265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79228" y="1617315"/>
            <a:ext cx="941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Shake 3× → HOME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664568" y="1998315"/>
            <a:ext cx="9713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4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Shake 2× → Module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719932" y="2379315"/>
            <a:ext cx="8584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Shake 1× → Back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319588" y="1234678"/>
            <a:ext cx="4538663" cy="1097161"/>
          </a:xfrm>
          <a:prstGeom prst="roundRect">
            <a:avLst>
              <a:gd name="adj" fmla="val 10418"/>
            </a:avLst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48188" y="1463278"/>
            <a:ext cx="416309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"Shake three times from anywhere and you're home."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19588" y="2484239"/>
            <a:ext cx="4538663" cy="1557784"/>
          </a:xfrm>
          <a:prstGeom prst="roundRect">
            <a:avLst>
              <a:gd name="adj" fmla="val 7337"/>
            </a:avLst>
          </a:prstGeom>
          <a:solidFill>
            <a:srgbClr val="F5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05338" y="2674739"/>
            <a:ext cx="40465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05338" y="2929979"/>
            <a:ext cx="4046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to trigger accidentally during normal use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605338" y="3179415"/>
            <a:ext cx="4046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perform intentionally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605338" y="3428851"/>
            <a:ext cx="4046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system provides graduated escape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605338" y="3678287"/>
            <a:ext cx="4046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doesn't need to know where they are to recover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319588" y="4194423"/>
            <a:ext cx="4538663" cy="624780"/>
          </a:xfrm>
          <a:prstGeom prst="roundRect">
            <a:avLst>
              <a:gd name="adj" fmla="val 12196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71988" y="4346823"/>
            <a:ext cx="43185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97459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WCAG 2.2 Guideline 3.2.6 (Consistent Help) User interviews on "getting lost" anxiety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7703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Communication Channels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379339"/>
            <a:ext cx="2730550" cy="2975372"/>
          </a:xfrm>
          <a:prstGeom prst="roundRect">
            <a:avLst>
              <a:gd name="adj" fmla="val 4186"/>
            </a:avLst>
          </a:prstGeom>
          <a:solidFill>
            <a:srgbClr val="FD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85750" y="1398389"/>
            <a:ext cx="2730550" cy="0"/>
          </a:xfrm>
          <a:prstGeom prst="line">
            <a:avLst/>
          </a:prstGeom>
          <a:noFill/>
          <a:ln w="38100">
            <a:solidFill>
              <a:srgbClr val="D974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164603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331839"/>
            <a:ext cx="23188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 Signals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4350" y="2838450"/>
            <a:ext cx="23188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Tactile reinforcement for every state change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4350" y="3303240"/>
            <a:ext cx="2273350" cy="822871"/>
          </a:xfrm>
          <a:prstGeom prst="roundRect">
            <a:avLst>
              <a:gd name="adj" fmla="val 92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8650" y="3417540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pulse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Action confirmed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8650" y="3634680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pulse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Navigation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8650" y="3851821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vibration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Home reached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6800" y="1398389"/>
            <a:ext cx="2730550" cy="2937272"/>
          </a:xfrm>
          <a:prstGeom prst="roundRect">
            <a:avLst>
              <a:gd name="adj" fmla="val 4186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35400" y="162698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35400" y="2312789"/>
            <a:ext cx="23188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Audio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35400" y="2819400"/>
            <a:ext cx="23188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Short, efficient cues — only when necessary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35400" y="3284190"/>
            <a:ext cx="2273350" cy="822871"/>
          </a:xfrm>
          <a:prstGeom prst="roundRect">
            <a:avLst>
              <a:gd name="adj" fmla="val 926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49700" y="3398490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Current location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49700" y="3615630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Tones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speech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49700" y="3832771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Interruptible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User in control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7849" y="1299270"/>
            <a:ext cx="2730550" cy="3135362"/>
          </a:xfrm>
          <a:prstGeom prst="roundRect">
            <a:avLst>
              <a:gd name="adj" fmla="val 4186"/>
            </a:avLst>
          </a:prstGeom>
          <a:solidFill>
            <a:srgbClr val="F5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27849" y="1318320"/>
            <a:ext cx="2730550" cy="0"/>
          </a:xfrm>
          <a:prstGeom prst="line">
            <a:avLst/>
          </a:prstGeom>
          <a:noFill/>
          <a:ln w="38100">
            <a:solidFill>
              <a:srgbClr val="C4A7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6449" y="156597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4A7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56449" y="2251770"/>
            <a:ext cx="23188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Gestures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56449" y="2758380"/>
            <a:ext cx="23188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commands — anywhere on screen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6449" y="3383161"/>
            <a:ext cx="2273350" cy="822871"/>
          </a:xfrm>
          <a:prstGeom prst="roundRect">
            <a:avLst>
              <a:gd name="adj" fmla="val 92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70749" y="3497461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precision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Tap anywhere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70749" y="3714601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gestures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Universal meaning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70749" y="3931741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change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Predictable always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Pillars of Access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477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choice minimizes cognitive load at the top level</a:t>
            </a:r>
            <a:endParaRPr lang="en-US" sz="1050" dirty="0"/>
          </a:p>
        </p:txBody>
      </p:sp>
      <p:pic>
        <p:nvPicPr>
          <p:cNvPr id="4" name="Image 0" descr="/tmp/rasterized-gradient-5c9b1f9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539329"/>
            <a:ext cx="4171950" cy="2918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2450" y="1806029"/>
            <a:ext cx="37113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Library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52450" y="2392710"/>
            <a:ext cx="37113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essential apps, organized and fixed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52450" y="2922240"/>
            <a:ext cx="3638550" cy="803672"/>
          </a:xfrm>
          <a:prstGeom prst="roundRect">
            <a:avLst>
              <a:gd name="adj" fmla="val 1422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2950" y="3112740"/>
            <a:ext cx="33227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Phone, Messages, WhatsApp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742950" y="3362176"/>
            <a:ext cx="33227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Uber, Maps, Banking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552450" y="4030712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any apps you choose</a:t>
            </a:r>
            <a:endParaRPr lang="en-US" sz="900" dirty="0"/>
          </a:p>
        </p:txBody>
      </p:sp>
      <p:pic>
        <p:nvPicPr>
          <p:cNvPr id="11" name="Image 1" descr="/tmp/rasterized-gradient-ef35c62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539329"/>
            <a:ext cx="4171950" cy="29180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53000" y="1806029"/>
            <a:ext cx="37113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Content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53000" y="2392710"/>
            <a:ext cx="37113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web, simplified and readable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953000" y="2922240"/>
            <a:ext cx="3638550" cy="803672"/>
          </a:xfrm>
          <a:prstGeom prst="roundRect">
            <a:avLst>
              <a:gd name="adj" fmla="val 1422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143500" y="3112740"/>
            <a:ext cx="33227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BBC, News24, Wikipedia</a:t>
            </a:r>
            <a:endParaRPr lang="en-US" sz="975" dirty="0"/>
          </a:p>
        </p:txBody>
      </p:sp>
      <p:sp>
        <p:nvSpPr>
          <p:cNvPr id="16" name="Text 12"/>
          <p:cNvSpPr/>
          <p:nvPr/>
        </p:nvSpPr>
        <p:spPr>
          <a:xfrm>
            <a:off x="5143500" y="3362176"/>
            <a:ext cx="33227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Claude, Gemini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4953000" y="4030712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your chosen sources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Discovery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477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VI users find and download KA-DAH independently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1011882"/>
            <a:ext cx="4152900" cy="3973116"/>
          </a:xfrm>
          <a:prstGeom prst="roundRect">
            <a:avLst>
              <a:gd name="adj" fmla="val 3836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240482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— SIRI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14350" y="1731913"/>
            <a:ext cx="3695700" cy="626566"/>
          </a:xfrm>
          <a:prstGeom prst="roundRect">
            <a:avLst>
              <a:gd name="adj" fmla="val 1216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8650" y="1846213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says: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28650" y="2057549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"Hey Siri, open the App Store"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4350" y="2606129"/>
            <a:ext cx="3695700" cy="626566"/>
          </a:xfrm>
          <a:prstGeom prst="roundRect">
            <a:avLst>
              <a:gd name="adj" fmla="val 1216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2720429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says: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28650" y="2931765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"Hey Siri, search for KA-DAH"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4350" y="3480346"/>
            <a:ext cx="3695700" cy="626566"/>
          </a:xfrm>
          <a:prstGeom prst="roundRect">
            <a:avLst>
              <a:gd name="adj" fmla="val 1216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650" y="3594646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says: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28650" y="3805982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"Hey Siri, download KA-DAH"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4350" y="4354562"/>
            <a:ext cx="3695700" cy="401836"/>
          </a:xfrm>
          <a:prstGeom prst="roundRect">
            <a:avLst>
              <a:gd name="adj" fmla="val 18963"/>
            </a:avLst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650" y="4468862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ID confirms. Vibration signals complete.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667250" y="992832"/>
            <a:ext cx="4191000" cy="4011216"/>
          </a:xfrm>
          <a:prstGeom prst="roundRect">
            <a:avLst>
              <a:gd name="adj" fmla="val 3799"/>
            </a:avLst>
          </a:prstGeom>
          <a:solidFill>
            <a:srgbClr val="F5F7F8"/>
          </a:solidFill>
          <a:ln w="19050">
            <a:solidFill>
              <a:srgbClr val="1E3A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14900" y="1240482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— ASSISTANT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14900" y="1731913"/>
            <a:ext cx="3695700" cy="62656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29200" y="1846213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says: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029200" y="2057549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"Hey Google, open Play Store"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14900" y="2606129"/>
            <a:ext cx="3695700" cy="62656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29200" y="2720429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says: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029200" y="2931765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"Hey Google, search for KA-DAH"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14900" y="3480346"/>
            <a:ext cx="3695700" cy="62656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29200" y="3594646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TalkBack reads details, user says: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029200" y="3805982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"Hey Google, tap Install"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4900" y="4354562"/>
            <a:ext cx="3695700" cy="401836"/>
          </a:xfrm>
          <a:prstGeom prst="roundRect">
            <a:avLst>
              <a:gd name="adj" fmla="val 18963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29200" y="4468862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confirms installation complete.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Voice-Commanded Setup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477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independence — no sighted helper required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1311920"/>
            <a:ext cx="4953000" cy="638026"/>
          </a:xfrm>
          <a:prstGeom prst="roundRect">
            <a:avLst>
              <a:gd name="adj" fmla="val 1194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311920"/>
            <a:ext cx="0" cy="638026"/>
          </a:xfrm>
          <a:prstGeom prst="line">
            <a:avLst/>
          </a:prstGeom>
          <a:noFill/>
          <a:ln w="38100">
            <a:solidFill>
              <a:srgbClr val="D974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5270"/>
            <a:ext cx="47411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GESTURE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43360"/>
            <a:ext cx="47411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"Tap anywhere to begin... Good. Tap means identify."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85750" y="2045196"/>
            <a:ext cx="4953000" cy="638026"/>
          </a:xfrm>
          <a:prstGeom prst="roundRect">
            <a:avLst>
              <a:gd name="adj" fmla="val 1194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04800" y="2045196"/>
            <a:ext cx="0" cy="638026"/>
          </a:xfrm>
          <a:prstGeom prst="line">
            <a:avLst/>
          </a:prstGeom>
          <a:noFill/>
          <a:ln w="38100">
            <a:solidFill>
              <a:srgbClr val="C4A7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78546"/>
            <a:ext cx="47411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4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PERSONAL DETAILS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376636"/>
            <a:ext cx="47411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your name?" ... "Nice to meet you, Thandi."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85750" y="2778472"/>
            <a:ext cx="4953000" cy="638026"/>
          </a:xfrm>
          <a:prstGeom prst="roundRect">
            <a:avLst>
              <a:gd name="adj" fmla="val 1194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4800" y="2778472"/>
            <a:ext cx="0" cy="638026"/>
          </a:xfrm>
          <a:prstGeom prst="line">
            <a:avLst/>
          </a:prstGeom>
          <a:noFill/>
          <a:ln w="38100">
            <a:solidFill>
              <a:srgbClr val="D974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11822"/>
            <a:ext cx="47411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APP CATEGORIES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09913"/>
            <a:ext cx="47411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"Communication — for calls, messages? Say yes or skip."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285750" y="3511748"/>
            <a:ext cx="4953000" cy="638026"/>
          </a:xfrm>
          <a:prstGeom prst="roundRect">
            <a:avLst>
              <a:gd name="adj" fmla="val 1194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04800" y="3511748"/>
            <a:ext cx="0" cy="638026"/>
          </a:xfrm>
          <a:prstGeom prst="line">
            <a:avLst/>
          </a:prstGeom>
          <a:noFill/>
          <a:ln w="38100">
            <a:solidFill>
              <a:srgbClr val="C4A7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45098"/>
            <a:ext cx="47411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4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WEB CONTENT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843189"/>
            <a:ext cx="47411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"News — BBC, News24? Say yes or skip."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285750" y="4245025"/>
            <a:ext cx="4953000" cy="439936"/>
          </a:xfrm>
          <a:prstGeom prst="roundRect">
            <a:avLst>
              <a:gd name="adj" fmla="val 17321"/>
            </a:avLst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19100" y="4378375"/>
            <a:ext cx="47800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"Setup complete. Welcome to KA-DAH, Thandi."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429250" y="1989981"/>
            <a:ext cx="3429000" cy="2016770"/>
          </a:xfrm>
          <a:prstGeom prst="roundRect">
            <a:avLst>
              <a:gd name="adj" fmla="val 5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19750" y="2180481"/>
            <a:ext cx="3108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19750" y="2492871"/>
            <a:ext cx="31089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Voice-only interaction throughout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619750" y="2780407"/>
            <a:ext cx="31089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yes/skip responses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619750" y="3067943"/>
            <a:ext cx="31089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names specific apps to add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619750" y="3355479"/>
            <a:ext cx="31089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Extras go to "Other" automatically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619750" y="3643015"/>
            <a:ext cx="31089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5 minutes to complete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Structure: 4 + Other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477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cognitive load — users only see categories they choose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1453009"/>
            <a:ext cx="2557463" cy="453330"/>
          </a:xfrm>
          <a:prstGeom prst="roundRect">
            <a:avLst>
              <a:gd name="adj" fmla="val 25213"/>
            </a:avLst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586359"/>
            <a:ext cx="22199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LIBRARY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5750" y="2058739"/>
            <a:ext cx="2557463" cy="2484983"/>
          </a:xfrm>
          <a:prstGeom prst="rect">
            <a:avLst/>
          </a:prstGeom>
          <a:solidFill>
            <a:srgbClr val="FD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2211139"/>
            <a:ext cx="22199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76250" y="2403425"/>
            <a:ext cx="22199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Phone, Messages, WhatsApp, Telegram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76250" y="2645271"/>
            <a:ext cx="22199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6250" y="2837557"/>
            <a:ext cx="22199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Uber, Bolt, Maps, Gautrain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250" y="3079403"/>
            <a:ext cx="22199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6250" y="3271689"/>
            <a:ext cx="22199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FNB, Capitec, SnapScan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76250" y="3513534"/>
            <a:ext cx="22199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6250" y="3705820"/>
            <a:ext cx="22199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Spotify, YouTube, Podcasts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476250" y="3952429"/>
            <a:ext cx="2176463" cy="0"/>
          </a:xfrm>
          <a:prstGeom prst="line">
            <a:avLst/>
          </a:prstGeom>
          <a:noFill/>
          <a:ln w="9525">
            <a:solidFill>
              <a:srgbClr val="C4A7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250" y="4052441"/>
            <a:ext cx="22199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76250" y="4244727"/>
            <a:ext cx="22199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additional apps user requests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071813" y="1453009"/>
            <a:ext cx="2557463" cy="453330"/>
          </a:xfrm>
          <a:prstGeom prst="roundRect">
            <a:avLst>
              <a:gd name="adj" fmla="val 25213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62313" y="1586359"/>
            <a:ext cx="22199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CONTENT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71813" y="2058739"/>
            <a:ext cx="2557463" cy="2484983"/>
          </a:xfrm>
          <a:prstGeom prst="rect">
            <a:avLst/>
          </a:prstGeom>
          <a:solidFill>
            <a:srgbClr val="F5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62313" y="2211139"/>
            <a:ext cx="22199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3262313" y="2403425"/>
            <a:ext cx="22199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BBC, News24, Daily Maverick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262313" y="2645271"/>
            <a:ext cx="22199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3262313" y="2837557"/>
            <a:ext cx="22199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Facebook, Twitter, LinkedIn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262313" y="3079403"/>
            <a:ext cx="22199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3262313" y="3271689"/>
            <a:ext cx="22199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Wikipedia, Coursera, Khan Academy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262313" y="3513534"/>
            <a:ext cx="22199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3262313" y="3705820"/>
            <a:ext cx="22199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Claude, Gemini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3262313" y="3952429"/>
            <a:ext cx="2176463" cy="0"/>
          </a:xfrm>
          <a:prstGeom prst="line">
            <a:avLst/>
          </a:prstGeom>
          <a:noFill/>
          <a:ln w="9525">
            <a:solidFill>
              <a:srgbClr val="C4A7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2313" y="4052441"/>
            <a:ext cx="22199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3262313" y="4244727"/>
            <a:ext cx="22199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additional sites user requests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857875" y="2127945"/>
            <a:ext cx="3000375" cy="1740991"/>
          </a:xfrm>
          <a:prstGeom prst="roundRect">
            <a:avLst>
              <a:gd name="adj" fmla="val 6565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048375" y="2318445"/>
            <a:ext cx="26717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4 + OTHER?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48375" y="2592735"/>
            <a:ext cx="267176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research: 4 items optimal for working memory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48375" y="3007965"/>
            <a:ext cx="26717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navigation: 5 items = quick to loop through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48375" y="3263205"/>
            <a:ext cx="26717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Personalization: Users only see what they chose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48375" y="3518446"/>
            <a:ext cx="26717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"Other" catches everything else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Success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724918"/>
            <a:ext cx="3429000" cy="2284065"/>
          </a:xfrm>
          <a:prstGeom prst="roundRect">
            <a:avLst>
              <a:gd name="adj" fmla="val 6672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991618"/>
            <a:ext cx="29535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 PRINCIPLE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52450" y="2265908"/>
            <a:ext cx="295351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"Nothing About Us Without Us"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2450" y="2704058"/>
            <a:ext cx="381000" cy="19050"/>
          </a:xfrm>
          <a:prstGeom prst="rect">
            <a:avLst/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2913608"/>
            <a:ext cx="295351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users as co-designers throughout development, not just test subjects.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52450" y="3399383"/>
            <a:ext cx="2953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Task-based testing with think-aloud protocols, error rate measurement, and emotional response capture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43350" y="1564184"/>
            <a:ext cx="4914900" cy="388590"/>
          </a:xfrm>
          <a:prstGeom prst="roundRect">
            <a:avLst>
              <a:gd name="adj" fmla="val 19609"/>
            </a:avLst>
          </a:prstGeom>
          <a:solidFill>
            <a:srgbClr val="1E3A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95750" y="1678484"/>
            <a:ext cx="1537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55035" y="1678484"/>
            <a:ext cx="13173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98965" y="1678484"/>
            <a:ext cx="1537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43350" y="2067074"/>
            <a:ext cx="4914900" cy="439936"/>
          </a:xfrm>
          <a:prstGeom prst="rect">
            <a:avLst/>
          </a:prstGeom>
          <a:solidFill>
            <a:srgbClr val="F5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95750" y="2200424"/>
            <a:ext cx="15370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Learning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755035" y="2200424"/>
            <a:ext cx="13173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10 min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7198965" y="2206972"/>
            <a:ext cx="1537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completion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43350" y="2621310"/>
            <a:ext cx="4914900" cy="4399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95750" y="2754660"/>
            <a:ext cx="15370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to Home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755035" y="2754660"/>
            <a:ext cx="13173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5 sec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198965" y="2761208"/>
            <a:ext cx="1537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Shake-to-home timing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43350" y="3175546"/>
            <a:ext cx="4914900" cy="439936"/>
          </a:xfrm>
          <a:prstGeom prst="rect">
            <a:avLst/>
          </a:prstGeom>
          <a:solidFill>
            <a:srgbClr val="F5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95750" y="3308896"/>
            <a:ext cx="15370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Completion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755035" y="3308896"/>
            <a:ext cx="13173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95%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7198965" y="3315444"/>
            <a:ext cx="1537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43350" y="3729782"/>
            <a:ext cx="4914900" cy="4399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95750" y="3863132"/>
            <a:ext cx="15370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Confidence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755035" y="3863132"/>
            <a:ext cx="13173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 out of 5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7198965" y="3869680"/>
            <a:ext cx="15370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Post-session survey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698153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FFFF">
              <a:alpha val="10000"/>
            </a:srgbClr>
          </a:solidFill>
          <a:ln w="28575">
            <a:solidFill>
              <a:srgbClr val="D974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94074" y="1841153"/>
            <a:ext cx="19558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KA-DAH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768042" y="2565053"/>
            <a:ext cx="160791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900"/>
              </a:spcBef>
              <a:spcAft>
                <a:spcPts val="3000"/>
              </a:spcAft>
              <a:buNone/>
            </a:pPr>
            <a:r>
              <a:rPr lang="en-US" sz="1200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INVISIBLE 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91000" y="3311723"/>
            <a:ext cx="762000" cy="28575"/>
          </a:xfrm>
          <a:prstGeom prst="rect">
            <a:avLst/>
          </a:prstGeom>
          <a:solidFill>
            <a:srgbClr val="D974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95323" y="3873698"/>
            <a:ext cx="2553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 the absence of interface.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70844" y="4368998"/>
            <a:ext cx="28021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D97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presence of independence."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KA-DAH Human-Centered Design Document</dc:title>
  <dc:subject>Design Decisions, Rationale &amp; Evidence</dc:subject>
  <dc:creator>Oplene Group Pty Ltd</dc:creator>
  <cp:lastModifiedBy>Oplene Group Pty Ltd</cp:lastModifiedBy>
  <cp:revision>1</cp:revision>
  <dcterms:created xsi:type="dcterms:W3CDTF">2026-01-07T03:13:04Z</dcterms:created>
  <dcterms:modified xsi:type="dcterms:W3CDTF">2026-01-07T03:13:04Z</dcterms:modified>
</cp:coreProperties>
</file>